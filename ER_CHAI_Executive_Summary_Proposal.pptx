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ER-CHAI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B9BD5"/>
                </a:solidFill>
                <a:latin typeface="Calibri"/>
              </a:defRPr>
            </a:pPr>
            <a:r>
              <a:t>AI-Assisted Chart Generation &amp;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Executive Summary and Proposal for Productionalization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Prepared for: Economic Research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DEFB"/>
                </a:solidFill>
                <a:latin typeface="Calibri"/>
              </a:defRPr>
            </a:pPr>
            <a:r>
              <a:t>Date: April 2, 2026  |  Classification: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 Executive Summary &amp; Value Proposition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 Current Prototype — What Exists Today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 Production Gaps &amp; Architecture Assessment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 Proposed AWS Production Architecture (with Okta IdP)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 AI Enhancement Roadmap (3 Phases)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 Implementation Timeline (7 Months)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 Budget &amp; Resource Plan (2-3 MVP Resources)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 Risk Assessment &amp; Mitigation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 Success Metrics &amp;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Why ER-CHAI,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2CE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$258,900 Year 1 investment (dev + infra)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$116,760/yr recurring (0.5 FTE + AWS)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2-3 resources over 7 months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Phased delivery — production value at Month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2CE"/>
                </a:solidFill>
                <a:latin typeface="Calibri"/>
              </a:defRPr>
            </a:pPr>
            <a:r>
              <a:t>THE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3-5x faster chart creation vs. manual workflows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AI-powered analysis, summaries, and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Publication-ready exports (Python, R, PDF)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Secure multi-user platform for the full ER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5303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2CE"/>
                </a:solidFill>
                <a:latin typeface="Calibri"/>
              </a:defRPr>
            </a:pPr>
            <a:r>
              <a:t>WHAT IS ER-CHAI?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 working prototype that lets economists create FRBSF-branded charts using natural language AI commands.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Ingest data from FRED API or CSV/Excel uploads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AI assistant modifies charts via conversation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Vision AI replicates styling from reference images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Auto-generates executive summaries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This proposal funds the move from local prototype to secure, cloud-hosted, multi-user production platform on AWS.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What Exists Today — Fully Functional Local Application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 3.11+, FastAPI, uvicorn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React 18, TypeScript, Konva.js, Zustand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(aiosqlite)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/ LLM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Bedrock — Claude Sonnet 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Image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OpenCV + Bedrock Vision API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FRED API + CSV/Excel upload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 (matplotlib), R (ggplot2), PDF (ReportLab)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 unit + property-based tests (Hypothesis)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2CE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Interactive Konva.js canvas with drag-and-drop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AI chat: "Change to area chart", "Add recession bands"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Reference image analysis — replicate any chart style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Auto-generated executive summaries (trend, peaks, outlook)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Annotations: H-lines, V-lines, V-bands, text labels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Right-click context menu for font/color editing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Project save/load with full state persistence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✦ FRBSF branding applied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Production Gap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What Needs to Change for Multi-User Cloud Deployment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Need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Single-process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Containerized, auto-scaling (ECS Fargate)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Vite dev server, localhost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 + CloudFront CDN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(single-file)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Aurora PostgreSQL Serverless v2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Okta IdP (SAML/OIDC) via ALB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AI/LLM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Bedrock, no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Prompt caching, rate limits, content filtering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filesystem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 (datasets, charts, exports)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Console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CloudWatch, X-Ray, structured logging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config.yaml with creds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Secrets Manager, IAM roles, VPC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CodePipeline + CodeBuild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AWS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Secure, Scalable, Multi-User Platform with Okta 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5120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USER-FACING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CloudFront CDN — low-latency delivery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S3 — static frontend hosting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ALB + WAF — load balancing, DDoS protection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Okta IdP — SAML/OIDC SSO, MFA, RBAC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ALB OIDC — JWT validation at the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280160"/>
            <a:ext cx="3840480" cy="5120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2CE"/>
                </a:solidFill>
                <a:latin typeface="Calibri"/>
              </a:defRPr>
            </a:pPr>
            <a:r>
              <a:t>COMPUTE &amp; AI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ECS Fargate — serverless containers, auto-scale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Bedrock (Claude 4.5) — chat, vision, summaries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SQS — async image analysis &amp; PDF generation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ElastiCache (Redis) — sessions, prompt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566160" cy="512064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6C00"/>
                </a:solidFill>
                <a:latin typeface="Calibri"/>
              </a:defRPr>
            </a:pPr>
            <a:r>
              <a:t>DATA &amp;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Aurora PostgreSQL Serverless v2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S3 — datasets, exports, chart images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Secrets Manager + KMS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CloudWatch Logs + Metrics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X-Ray distributed tracing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☁ VPC + GuardDuty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Enhancement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Three Phases of Increasing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5120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PHASE 1: Chart Intelligence (Mo 1-3)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Multi-series auto-detection — AI suggests optimal chart types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Smart annotation suggestions — recession bands, policy events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Comparative chart generation — overlay multiple FRED series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Natural language data filtering — "Show only 2020 onwards"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3657600" cy="5120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2CE"/>
                </a:solidFill>
                <a:latin typeface="Calibri"/>
              </a:defRPr>
            </a:pPr>
            <a:r>
              <a:t>PHASE 2: Advanced Analysis (Mo 3-5)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Automated anomaly detection — structural breaks, regime changes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Forecast overlay — ARIMA / trend extrapolation on charts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Cross-dataset correlation — visual hypothesis testing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Publication-ready narrative — Economic Letters, working papers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Template library — curated templates for common indicators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657600" cy="512064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6C00"/>
                </a:solidFill>
                <a:latin typeface="Calibri"/>
              </a:defRPr>
            </a:pPr>
            <a:r>
              <a:t>PHASE 3: Collaboration (Mo 5-7)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Shared chart workspaces — real-time multi-user editing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AI review assistant — branding compliance, data accuracy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Version history with AI diff — plain-language change log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Batch chart generation — bulk production across districts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▸ Custom AI personas — tailored for different publication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7-Month Phased Delivery — Production Value at Month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466344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1: Foundation &amp; Cloud Migration (Months 1-3)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Docker + ECS Fargate  |  SQLite → Aurora  |  S3 + CloudFront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Okta SSO (SAML/OIDC via ALB)  |  CI/CD pipeline  |  CloudWatch + X-Ray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Phase 1 AI: smart chart types, annotation suggestions  |  WAF + VPC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371600"/>
            <a:ext cx="3200400" cy="12801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2: AI &amp; Scale (Mo 3-5)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783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SQS async queue  |  ElastiCache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Anomaly detection, forecasting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Load testing  |  UAT with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371600"/>
            <a:ext cx="2926080" cy="12801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3: Collab (Mo 5-7)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Real-time collaboration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AI review + batch generation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Training +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B5C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Month 3 — Production deployment: cloud-hosted, Okta SSO, basic AI enhancements live for early adopters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Month 5 — Advanced AI: anomaly detection, forecasting, correlation analysis available; UAT complete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Month 7 — Full launch: real-time collaboration, batch generation, templates, team-wide rollout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Budget &amp; Resource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Lean MVP Team — 2-3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2CE"/>
                </a:solidFill>
                <a:latin typeface="Calibri"/>
              </a:defRPr>
            </a:pPr>
            <a:r>
              <a:t>ONE-TIME DEVELOPMENT COSTS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6858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Full-Stack Lead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× 7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$16,000/mo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$112,000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 / DevOps Engineer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× 6 months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QA + Security (part-time)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 × 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$14,000/mo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Project Manager (shared)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 × 7 months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$13,000/mo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$22,750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$252,750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2CE"/>
                </a:solidFill>
                <a:latin typeface="Calibri"/>
              </a:defRPr>
            </a:pPr>
            <a:r>
              <a:t>MONTHLY AWS INFRASTRUCTURE (STEADY STATE)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57200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ECS Fargate (2-4 tasks)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Aurora PostgreSQL Serverless v2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Bedrock (Claude 4.5, ~50K req/mo)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 + CloudFront + ElastiCache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CloudWatch, WAF, Secrets Mgr, SQS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Okta IdP (org license assumed)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$1,230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1188720"/>
            <a:ext cx="4023360" cy="5303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B5C"/>
                </a:solidFill>
                <a:latin typeface="Calibri"/>
              </a:defRPr>
            </a:pPr>
            <a:r>
              <a:t>TOTAL INVESTMENT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Year 1 (Development + Infra):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$258,900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Annual Recurring (Year 2+):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$116,760/yr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Breakdown: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0.5 FTE maintenance: $90,000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AWS infrastructure: $14,760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Bedrock growth buffer: $2,000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Security/compliance: $10,000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~48% savings vs. full-team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914400"/>
                <a:gridCol w="69494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Bedrock API cost overruns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Prompt caching (ElastiCache), per-user quotas, cost alerts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Bedrock model deprecation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Abstract LLM behind service interface, support model swapping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 adoption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UAT involvement, training sessions, champion users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sensitivity with Bedrock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data in-account, no external training, VPC endpoints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Scope creep on AI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Phased delivery with clear acceptance criteria per phase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Okta IdP 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ALB native OIDC support minimizes custom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Success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7607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We Measure</a:t>
                      </a:r>
                    </a:p>
                  </a:txBody>
                  <a:tcPr>
                    <a:solidFill>
                      <a:srgbClr val="00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Chart creation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3-5x faster than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Time-tracking comparison study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monthly users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 of ER team within 3 months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Okta login analytics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assistant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 of charts use ≥1 AI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Backend telemetry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Export volume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 publication-ready exports/month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 / export endpoint metrics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System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99.5%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CloudWatch synthetic monitoring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 satisfaction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NPS &gt; 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survey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Recommendation &amp; Approval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1064240" cy="4572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 recommend proceeding with the full 3-phase implementation using a lean MVP team of 2-3 resources. The prototype has already demonstrated the core value proposition — AI-assisted chart generation significantly accelerates the workflow for economic researchers.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3291840" cy="2011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libri"/>
              </a:defRPr>
            </a:pPr>
            <a:r>
              <a:t>YEAR 1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$258,900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Development + infrastructure</a:t>
            </a:r>
            <a:br/>
            <a:r>
              <a:t>7-month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474720"/>
            <a:ext cx="3291840" cy="2011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libri"/>
              </a:defRPr>
            </a:pPr>
            <a:r>
              <a:t>ANNUAL RECURRING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$116,760/yr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0.5 FTE + AWS infra</a:t>
            </a:r>
            <a:br/>
            <a:r>
              <a:t>Starting Year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474720"/>
            <a:ext cx="3291840" cy="2011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libri"/>
              </a:defRPr>
            </a:pPr>
            <a:r>
              <a:t>TEAM STAFFING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2-3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Full-stack lead + FE/DevOps</a:t>
            </a:r>
            <a:br/>
            <a:r>
              <a:t>+ part-time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CAF9"/>
                </a:solidFill>
                <a:latin typeface="Calibri"/>
              </a:defRPr>
            </a:pPr>
            <a:r>
              <a:t>Prepared by the ER-CHAI Development Team  |  April 2026  | 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